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s/comment2.xml" ContentType="application/vnd.openxmlformats-officedocument.presentationml.comments+xml"/>
  <Override PartName="/ppt/slides/slide7.xml" ContentType="application/vnd.openxmlformats-officedocument.presentationml.slide+xml"/>
  <Override PartName="/ppt/comments/comment3.xml" ContentType="application/vnd.openxmlformats-officedocument.presentationml.comments+xml"/>
  <Override PartName="/ppt/slides/slide8.xml" ContentType="application/vnd.openxmlformats-officedocument.presentationml.slide+xml"/>
  <Override PartName="/ppt/comments/comment4.xml" ContentType="application/vnd.openxmlformats-officedocument.presentationml.comments+xml"/>
  <Override PartName="/ppt/slides/slide9.xml" ContentType="application/vnd.openxmlformats-officedocument.presentationml.slide+xml"/>
  <Override PartName="/ppt/comments/comment5.xml" ContentType="application/vnd.openxmlformats-officedocument.presentationml.comment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6"/>
    <p:sldId id="263" r:id="rId18"/>
    <p:sldId id="264" r:id="rId20"/>
    <p:sldId id="265" r:id="rId22"/>
    <p:sldId id="266" r:id="rId23"/>
    <p:sldId id="267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Trijot Singh" initials="TS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comments" Target="comments/comment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comments" Target="comments/comment2.xml"/><Relationship Id="rId16" Type="http://schemas.openxmlformats.org/officeDocument/2006/relationships/slide" Target="slides/slide7.xml"/><Relationship Id="rId17" Type="http://schemas.openxmlformats.org/officeDocument/2006/relationships/comments" Target="comments/comment3.xml"/><Relationship Id="rId18" Type="http://schemas.openxmlformats.org/officeDocument/2006/relationships/slide" Target="slides/slide8.xml"/><Relationship Id="rId19" Type="http://schemas.openxmlformats.org/officeDocument/2006/relationships/comments" Target="comments/comment4.xml"/><Relationship Id="rId20" Type="http://schemas.openxmlformats.org/officeDocument/2006/relationships/slide" Target="slides/slide9.xml"/><Relationship Id="rId21" Type="http://schemas.openxmlformats.org/officeDocument/2006/relationships/comments" Target="comments/comment5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6-02-14T12:51:28.740" idx="1">
    <p:pos x="3776" y="2109"/>
    <p:text>Imagine if Excel remembered every formula change, every rate revision, and who made it — automatically.
That’s GitHub.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6-02-14T12:51:28.740" idx="2">
    <p:pos x="3776" y="2109"/>
    <p:text>Imagine if Excel remembered every formula change, every rate revision, and who made it — automatically.
That’s GitHub.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6-02-14T12:51:28.740" idx="3">
    <p:pos x="3776" y="990"/>
    <p:text>Imagine if Excel remembered every formula change, every rate revision, and who made it — automatically.
That’s GitHub.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6-02-14T12:51:28.740" idx="4">
    <p:pos x="3776" y="990"/>
    <p:text>Imagine if Excel remembered every formula change, every rate revision, and who made it — automatically.
That’s GitHub.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6-02-14T12:51:28.740" idx="5">
    <p:pos x="3776" y="990"/>
    <p:text>Imagine if Excel remembered every formula change, every rate revision, and who made it — automatically.
That’s GitHub.</p:text>
    <p:extLst>
      <p:ext uri="{C676402C-5697-4E1C-873F-D02D1690AC5C}">
        <p15:threadingInfo xmlns:p15="http://schemas.microsoft.com/office/powerpoint/2012/main" timeZoneBias="36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2647950" y="1122362"/>
            <a:ext cx="8020050" cy="2387601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Oval 7"/>
          <p:cNvSpPr/>
          <p:nvPr/>
        </p:nvSpPr>
        <p:spPr>
          <a:xfrm>
            <a:off x="1524000" y="1835150"/>
            <a:ext cx="619127" cy="6191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xfrm>
            <a:off x="1704974" y="317500"/>
            <a:ext cx="9648826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Oval 6"/>
          <p:cNvSpPr/>
          <p:nvPr/>
        </p:nvSpPr>
        <p:spPr>
          <a:xfrm>
            <a:off x="842962" y="681037"/>
            <a:ext cx="481014" cy="481014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1943100" y="1709738"/>
            <a:ext cx="94043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Oval 6"/>
          <p:cNvSpPr/>
          <p:nvPr/>
        </p:nvSpPr>
        <p:spPr>
          <a:xfrm>
            <a:off x="831850" y="2901950"/>
            <a:ext cx="619127" cy="6191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xfrm>
            <a:off x="1704974" y="317500"/>
            <a:ext cx="9648826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Oval 7"/>
          <p:cNvSpPr/>
          <p:nvPr/>
        </p:nvSpPr>
        <p:spPr>
          <a:xfrm>
            <a:off x="842962" y="681037"/>
            <a:ext cx="481014" cy="481014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/>
          <p:nvPr>
            <p:ph type="title"/>
          </p:nvPr>
        </p:nvSpPr>
        <p:spPr>
          <a:xfrm>
            <a:off x="1695450" y="365125"/>
            <a:ext cx="9659939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6" name="Oval 10"/>
          <p:cNvSpPr/>
          <p:nvPr/>
        </p:nvSpPr>
        <p:spPr>
          <a:xfrm>
            <a:off x="836612" y="744537"/>
            <a:ext cx="481014" cy="481015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7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/>
          <p:nvPr>
            <p:ph type="title"/>
          </p:nvPr>
        </p:nvSpPr>
        <p:spPr>
          <a:xfrm>
            <a:off x="1695450" y="317500"/>
            <a:ext cx="9658350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6" name="Oval 6"/>
          <p:cNvSpPr/>
          <p:nvPr/>
        </p:nvSpPr>
        <p:spPr>
          <a:xfrm>
            <a:off x="836612" y="696912"/>
            <a:ext cx="481014" cy="481015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7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371600" y="457200"/>
            <a:ext cx="340042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46909" indent="-332509">
              <a:defRPr sz="3200"/>
            </a:lvl3pPr>
            <a:lvl4pPr marL="1704109" indent="-332509">
              <a:defRPr sz="3200"/>
            </a:lvl4pPr>
            <a:lvl5pPr marL="2161309" indent="-332509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5" name="Oval 7"/>
          <p:cNvSpPr/>
          <p:nvPr/>
        </p:nvSpPr>
        <p:spPr>
          <a:xfrm>
            <a:off x="836612" y="711017"/>
            <a:ext cx="327027" cy="3270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6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Text"/>
          <p:cNvSpPr txBox="1"/>
          <p:nvPr>
            <p:ph type="title"/>
          </p:nvPr>
        </p:nvSpPr>
        <p:spPr>
          <a:xfrm>
            <a:off x="1387549" y="457200"/>
            <a:ext cx="338447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5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Oval 8"/>
          <p:cNvSpPr/>
          <p:nvPr/>
        </p:nvSpPr>
        <p:spPr>
          <a:xfrm>
            <a:off x="836612" y="711017"/>
            <a:ext cx="327027" cy="3270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/>
          <p:nvPr>
            <p:ph type="title"/>
          </p:nvPr>
        </p:nvSpPr>
        <p:spPr>
          <a:xfrm>
            <a:off x="2647950" y="1122362"/>
            <a:ext cx="8020050" cy="2387601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7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Oval 7"/>
          <p:cNvSpPr/>
          <p:nvPr/>
        </p:nvSpPr>
        <p:spPr>
          <a:xfrm>
            <a:off x="1523999" y="1835149"/>
            <a:ext cx="619128" cy="619128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/>
          <p:cNvSpPr txBox="1"/>
          <p:nvPr>
            <p:ph type="title"/>
          </p:nvPr>
        </p:nvSpPr>
        <p:spPr>
          <a:xfrm>
            <a:off x="1704974" y="317500"/>
            <a:ext cx="964882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7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Oval 6"/>
          <p:cNvSpPr/>
          <p:nvPr/>
        </p:nvSpPr>
        <p:spPr>
          <a:xfrm>
            <a:off x="842962" y="681037"/>
            <a:ext cx="481014" cy="481014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9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xfrm>
            <a:off x="1943100" y="1709738"/>
            <a:ext cx="940435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Oval 6"/>
          <p:cNvSpPr/>
          <p:nvPr/>
        </p:nvSpPr>
        <p:spPr>
          <a:xfrm>
            <a:off x="831850" y="2901950"/>
            <a:ext cx="619127" cy="6191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Text"/>
          <p:cNvSpPr txBox="1"/>
          <p:nvPr>
            <p:ph type="title"/>
          </p:nvPr>
        </p:nvSpPr>
        <p:spPr>
          <a:xfrm>
            <a:off x="1704974" y="317500"/>
            <a:ext cx="964882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Oval 7"/>
          <p:cNvSpPr/>
          <p:nvPr/>
        </p:nvSpPr>
        <p:spPr>
          <a:xfrm>
            <a:off x="842962" y="681037"/>
            <a:ext cx="481014" cy="481014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Text"/>
          <p:cNvSpPr txBox="1"/>
          <p:nvPr>
            <p:ph type="title"/>
          </p:nvPr>
        </p:nvSpPr>
        <p:spPr>
          <a:xfrm>
            <a:off x="1695450" y="365125"/>
            <a:ext cx="965993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b="1" sz="24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b="1" sz="24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b="1" sz="24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b="1"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>
                <a:solidFill>
                  <a:srgbClr val="FFFFFF"/>
                </a:solidFill>
              </a:defRPr>
            </a:pPr>
          </a:p>
        </p:txBody>
      </p:sp>
      <p:sp>
        <p:nvSpPr>
          <p:cNvPr id="151" name="Oval 10"/>
          <p:cNvSpPr/>
          <p:nvPr/>
        </p:nvSpPr>
        <p:spPr>
          <a:xfrm>
            <a:off x="836612" y="744537"/>
            <a:ext cx="481014" cy="481015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2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Text"/>
          <p:cNvSpPr txBox="1"/>
          <p:nvPr>
            <p:ph type="title"/>
          </p:nvPr>
        </p:nvSpPr>
        <p:spPr>
          <a:xfrm>
            <a:off x="1695450" y="317500"/>
            <a:ext cx="965835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1" name="Oval 6"/>
          <p:cNvSpPr/>
          <p:nvPr/>
        </p:nvSpPr>
        <p:spPr>
          <a:xfrm>
            <a:off x="836612" y="696912"/>
            <a:ext cx="481014" cy="481015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2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Text"/>
          <p:cNvSpPr txBox="1"/>
          <p:nvPr>
            <p:ph type="title"/>
          </p:nvPr>
        </p:nvSpPr>
        <p:spPr>
          <a:xfrm>
            <a:off x="1371600" y="457200"/>
            <a:ext cx="340042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8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  <a:lvl2pPr marL="718457" indent="-261257">
              <a:defRPr sz="3200">
                <a:solidFill>
                  <a:srgbClr val="FFFFFF"/>
                </a:solidFill>
              </a:defRPr>
            </a:lvl2pPr>
            <a:lvl3pPr marL="1246909" indent="-332509">
              <a:defRPr sz="3200">
                <a:solidFill>
                  <a:srgbClr val="FFFFFF"/>
                </a:solidFill>
              </a:defRPr>
            </a:lvl3pPr>
            <a:lvl4pPr marL="1704109" indent="-332509">
              <a:defRPr sz="3200">
                <a:solidFill>
                  <a:srgbClr val="FFFFFF"/>
                </a:solidFill>
              </a:defRPr>
            </a:lvl4pPr>
            <a:lvl5pPr marL="2161309" indent="-332509">
              <a:defRPr sz="32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9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180" name="Oval 7"/>
          <p:cNvSpPr/>
          <p:nvPr/>
        </p:nvSpPr>
        <p:spPr>
          <a:xfrm>
            <a:off x="836612" y="711017"/>
            <a:ext cx="327027" cy="3270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bg>
      <p:bgPr>
        <a:solidFill>
          <a:srgbClr val="142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Text"/>
          <p:cNvSpPr txBox="1"/>
          <p:nvPr>
            <p:ph type="title"/>
          </p:nvPr>
        </p:nvSpPr>
        <p:spPr>
          <a:xfrm>
            <a:off x="1387549" y="457200"/>
            <a:ext cx="3384476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0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91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16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16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16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16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2" name="Oval 8"/>
          <p:cNvSpPr/>
          <p:nvPr/>
        </p:nvSpPr>
        <p:spPr>
          <a:xfrm>
            <a:off x="836612" y="711017"/>
            <a:ext cx="327027" cy="327027"/>
          </a:xfrm>
          <a:prstGeom prst="ellipse">
            <a:avLst/>
          </a:prstGeom>
          <a:solidFill>
            <a:srgbClr val="FED35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298" y="5513461"/>
            <a:ext cx="1040785" cy="1040785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2pPr>
      <a:lvl3pPr marL="1205345" marR="0" indent="-29094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3pPr>
      <a:lvl4pPr marL="1662545" marR="0" indent="-29094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4pPr>
      <a:lvl5pPr marL="2119745" marR="0" indent="-290945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142345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omments" Target="../comments/commen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omments" Target="../comments/commen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omments" Target="../comments/commen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omments" Target="../comments/commen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omments" Target="../comments/comment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Why is Git/GitHub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is Git/GitHub?</a:t>
            </a:r>
          </a:p>
        </p:txBody>
      </p:sp>
      <p:sp>
        <p:nvSpPr>
          <p:cNvPr id="204" name="What changed, when it changed, who changed it, and why.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changed, when it changed, who changed it, and why.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Which one is Final Version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Which one is Final Version?</a:t>
            </a:r>
          </a:p>
        </p:txBody>
      </p:sp>
      <p:graphicFrame>
        <p:nvGraphicFramePr>
          <p:cNvPr id="207" name="Table 1"/>
          <p:cNvGraphicFramePr/>
          <p:nvPr/>
        </p:nvGraphicFramePr>
        <p:xfrm>
          <a:off x="1683360" y="1375080"/>
          <a:ext cx="8181875" cy="52576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8169173"/>
              </a:tblGrid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Model_v1.xlsx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Model_v1_new2.xlsx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Model_v1_new2_latest_FINAL.xlsx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Model_v1_new2_latest_FINAL_v3.xlsx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Model_v1_freq.xlsx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pricing_indication_FINAL.xlsx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pricing_indication_FINAL_REALLY.xlsx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RPM2026.xlsx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RPM2026_v2.xlsx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FINAL.xlsx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FINAL_v2.xlsx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FINAL_v2_LATEST.xlsx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FINAL_v2_LATEST_USE_THIS_ONE.xlsx</a:t>
                      </a:r>
                    </a:p>
                  </a:txBody>
                  <a:tcPr marL="0" marR="0" marT="0" marB="0" anchor="t" anchorCtr="0" horzOverflow="overflow"/>
                </a:tc>
              </a:tr>
              <a:tr h="3809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Calibri"/>
                        </a:rPr>
                        <a:t>FINAL_v2_LATEST_USE_THIS_ONE2.xlsx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Which one is Final Version? V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Which one is Final Version? V1</a:t>
            </a:r>
          </a:p>
        </p:txBody>
      </p:sp>
      <p:pic>
        <p:nvPicPr>
          <p:cNvPr id="210" name="Screenshot 2026-02-14 at 13.30.40.png" descr="Screenshot 2026-02-14 at 13.30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7047" y="1370907"/>
            <a:ext cx="4427237" cy="52934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Which one is Final Version? V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Which one is Final Version? V2</a:t>
            </a:r>
          </a:p>
        </p:txBody>
      </p:sp>
      <p:pic>
        <p:nvPicPr>
          <p:cNvPr id="213" name="Screenshot 2026-02-14 at 13.31.41.png" descr="Screenshot 2026-02-14 at 13.31.4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499" y="1460500"/>
            <a:ext cx="8763001" cy="3937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Screenshot 2026-02-14 at 13.33.53.png" descr="Screenshot 2026-02-14 at 13.33.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1081" y="1375789"/>
            <a:ext cx="7567902" cy="5456856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Which one is Final Version? Git style"/>
          <p:cNvSpPr txBox="1"/>
          <p:nvPr>
            <p:ph type="title"/>
          </p:nvPr>
        </p:nvSpPr>
        <p:spPr>
          <a:xfrm>
            <a:off x="1704974" y="317500"/>
            <a:ext cx="10179643" cy="1325563"/>
          </a:xfrm>
          <a:prstGeom prst="rect">
            <a:avLst/>
          </a:prstGeom>
        </p:spPr>
        <p:txBody>
          <a:bodyPr/>
          <a:lstStyle/>
          <a:p>
            <a:pPr/>
            <a:r>
              <a:t>Which one is Final Version? Git style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What is Git/GitHub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Git/GitHub?</a:t>
            </a:r>
          </a:p>
        </p:txBody>
      </p:sp>
      <p:sp>
        <p:nvSpPr>
          <p:cNvPr id="219" name="What changed, when it changed, who changed it, and why.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changed, when it changed, who changed it, and why.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What is Git/GitHub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Git/GitHub?</a:t>
            </a:r>
          </a:p>
        </p:txBody>
      </p:sp>
      <p:sp>
        <p:nvSpPr>
          <p:cNvPr id="222" name="GitHub is essentially a secure digital workspace where teams build, track, and improve projects together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GitHub is essentially a secure digital workspace where teams build, track, and improve projects together.</a:t>
            </a:r>
          </a:p>
          <a:p>
            <a:pPr marL="0" indent="0">
              <a:buSzTx/>
              <a:buFontTx/>
              <a:buNone/>
            </a:pPr>
            <a:r>
              <a:t>Think of it as:</a:t>
            </a:r>
            <a:br/>
            <a:r>
              <a:t>• A version-controlled vault</a:t>
            </a:r>
            <a:br/>
            <a:r>
              <a:t>• A collaboration platform</a:t>
            </a:r>
            <a:br/>
            <a:r>
              <a:t>• A governance tool</a:t>
            </a:r>
            <a:br/>
            <a:r>
              <a:t>• And a transparency engine</a:t>
            </a:r>
          </a:p>
          <a:p>
            <a:pPr marL="0" indent="0">
              <a:buSzTx/>
              <a:buFontTx/>
              <a:buNone/>
            </a:pPr>
            <a:r>
              <a:t>It stores code — but more importantly, it stores the history of decisions.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How Actuaries can Leverage Githu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Actuaries can Leverage Github</a:t>
            </a:r>
          </a:p>
        </p:txBody>
      </p:sp>
      <p:sp>
        <p:nvSpPr>
          <p:cNvPr id="225" name="Audit &amp; Governanc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Audit &amp; Governance</a:t>
            </a:r>
          </a:p>
          <a:p>
            <a:pPr marL="0" indent="0">
              <a:buSzTx/>
              <a:buFontTx/>
              <a:buNone/>
            </a:pPr>
            <a:r>
              <a:t>Controlled Innovation</a:t>
            </a:r>
          </a:p>
          <a:p>
            <a:pPr marL="0" indent="0">
              <a:buSzTx/>
              <a:buFontTx/>
              <a:buNone/>
            </a:pPr>
            <a:r>
              <a:t>Risk Management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How it Wor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it Works</a:t>
            </a:r>
          </a:p>
        </p:txBody>
      </p:sp>
      <p:sp>
        <p:nvSpPr>
          <p:cNvPr id="228" name="Three Simple concepts for GitHub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Three Simple concepts for GitHub:</a:t>
            </a:r>
          </a:p>
          <a:p>
            <a:pPr marL="374315" indent="-374315">
              <a:buFontTx/>
              <a:buAutoNum type="arabicPeriod" startAt="1"/>
            </a:pPr>
            <a:r>
              <a:t>Repository - Project Folder</a:t>
            </a:r>
          </a:p>
          <a:p>
            <a:pPr marL="374315" indent="-374315">
              <a:buFontTx/>
              <a:buAutoNum type="arabicPeriod" startAt="1"/>
            </a:pPr>
            <a:r>
              <a:t>Commit - Saved changes with Explanation</a:t>
            </a:r>
          </a:p>
          <a:p>
            <a:pPr marL="374315" indent="-374315">
              <a:buFontTx/>
              <a:buAutoNum type="arabicPeriod" startAt="1"/>
            </a:pPr>
            <a:r>
              <a:t>Branch - Safe testing Environment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Screenshot 2026-02-14 at 12.58.11.png" descr="Screenshot 2026-02-14 at 12.58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0773" y="0"/>
            <a:ext cx="9610454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Screenshot 2026-02-14 at 13.33.53.png" descr="Screenshot 2026-02-14 at 13.33.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1081" y="1375789"/>
            <a:ext cx="7567902" cy="5456856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Git style way of working"/>
          <p:cNvSpPr txBox="1"/>
          <p:nvPr>
            <p:ph type="title"/>
          </p:nvPr>
        </p:nvSpPr>
        <p:spPr>
          <a:xfrm>
            <a:off x="1704974" y="317500"/>
            <a:ext cx="10179643" cy="1325563"/>
          </a:xfrm>
          <a:prstGeom prst="rect">
            <a:avLst/>
          </a:prstGeom>
        </p:spPr>
        <p:txBody>
          <a:bodyPr/>
          <a:lstStyle/>
          <a:p>
            <a:pPr/>
            <a:r>
              <a:t>Git style way of working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ractical example ?"/>
          <p:cNvSpPr txBox="1"/>
          <p:nvPr>
            <p:ph type="title"/>
          </p:nvPr>
        </p:nvSpPr>
        <p:spPr>
          <a:xfrm>
            <a:off x="1704974" y="317500"/>
            <a:ext cx="10179643" cy="1325563"/>
          </a:xfrm>
          <a:prstGeom prst="rect">
            <a:avLst/>
          </a:prstGeom>
        </p:spPr>
        <p:txBody>
          <a:bodyPr/>
          <a:lstStyle/>
          <a:p>
            <a:pPr/>
            <a:r>
              <a:t>Practical example 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